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2"/>
  </p:notesMasterIdLst>
  <p:handoutMasterIdLst>
    <p:handoutMasterId r:id="rId23"/>
  </p:handoutMasterIdLst>
  <p:sldIdLst>
    <p:sldId id="397" r:id="rId5"/>
    <p:sldId id="408" r:id="rId6"/>
    <p:sldId id="407" r:id="rId7"/>
    <p:sldId id="404" r:id="rId8"/>
    <p:sldId id="405" r:id="rId9"/>
    <p:sldId id="416" r:id="rId10"/>
    <p:sldId id="406" r:id="rId11"/>
    <p:sldId id="403" r:id="rId12"/>
    <p:sldId id="411" r:id="rId13"/>
    <p:sldId id="418" r:id="rId14"/>
    <p:sldId id="383" r:id="rId15"/>
    <p:sldId id="414" r:id="rId16"/>
    <p:sldId id="413" r:id="rId17"/>
    <p:sldId id="415" r:id="rId18"/>
    <p:sldId id="391" r:id="rId19"/>
    <p:sldId id="389" r:id="rId20"/>
    <p:sldId id="39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autoAdjust="0"/>
  </p:normalViewPr>
  <p:slideViewPr>
    <p:cSldViewPr snapToGrid="0">
      <p:cViewPr varScale="1">
        <p:scale>
          <a:sx n="74" d="100"/>
          <a:sy n="74" d="100"/>
        </p:scale>
        <p:origin x="1042" y="28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9/2/2025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9/2/2025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ctrTitle"/>
          </p:nvPr>
        </p:nvSpPr>
        <p:spPr>
          <a:xfrm>
            <a:off x="3111062" y="411479"/>
            <a:ext cx="8685242" cy="3291840"/>
          </a:xfrm>
        </p:spPr>
        <p:txBody>
          <a:bodyPr/>
          <a:lstStyle/>
          <a:p>
            <a:r>
              <a:rPr lang="en-US" sz="5400" dirty="0"/>
              <a:t>Resume screening and job recommendation system</a:t>
            </a:r>
          </a:p>
        </p:txBody>
      </p:sp>
      <p:sp>
        <p:nvSpPr>
          <p:cNvPr id="3" name="Text Placeholder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a:normAutofit/>
          </a:bodyPr>
          <a:lstStyle/>
          <a:p>
            <a:r>
              <a:rPr lang="en-US" dirty="0"/>
              <a:t>By Esther Waweru</a:t>
            </a:r>
          </a:p>
        </p:txBody>
      </p:sp>
    </p:spTree>
    <p:extLst>
      <p:ext uri="{BB962C8B-B14F-4D97-AF65-F5344CB8AC3E}">
        <p14:creationId xmlns:p14="http://schemas.microsoft.com/office/powerpoint/2010/main" val="2039059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Outline</a:t>
            </a:r>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a:lstStyle/>
          <a:p>
            <a:pPr marL="342900" indent="-342900">
              <a:buFont typeface="Arial" panose="020B0604020202020204" pitchFamily="34" charset="0"/>
              <a:buChar char="•"/>
            </a:pPr>
            <a:r>
              <a:rPr lang="en-US" dirty="0"/>
              <a:t>Background</a:t>
            </a:r>
          </a:p>
          <a:p>
            <a:pPr marL="342900" indent="-342900">
              <a:buFont typeface="Arial" panose="020B0604020202020204" pitchFamily="34" charset="0"/>
              <a:buChar char="•"/>
            </a:pPr>
            <a:r>
              <a:rPr lang="en-US" dirty="0"/>
              <a:t>Dataset overview</a:t>
            </a:r>
          </a:p>
          <a:p>
            <a:pPr marL="342900" indent="-342900">
              <a:buFont typeface="Arial" panose="020B0604020202020204" pitchFamily="34" charset="0"/>
              <a:buChar char="•"/>
            </a:pPr>
            <a:r>
              <a:rPr lang="en-US" dirty="0"/>
              <a:t>Model architecture</a:t>
            </a:r>
          </a:p>
          <a:p>
            <a:pPr marL="342900" indent="-342900">
              <a:buFont typeface="Arial" panose="020B0604020202020204" pitchFamily="34" charset="0"/>
              <a:buChar char="•"/>
            </a:pPr>
            <a:r>
              <a:rPr lang="en-US" dirty="0"/>
              <a:t>Results</a:t>
            </a:r>
          </a:p>
          <a:p>
            <a:pPr marL="342900" indent="-342900">
              <a:buFont typeface="Arial" panose="020B0604020202020204" pitchFamily="34" charset="0"/>
              <a:buChar char="•"/>
            </a:pPr>
            <a:r>
              <a:rPr lang="en-US" dirty="0"/>
              <a:t>Further enhancements</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888484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317477" y="206922"/>
            <a:ext cx="5032287" cy="767113"/>
          </a:xfrm>
        </p:spPr>
        <p:txBody>
          <a:bodyPr/>
          <a:lstStyle/>
          <a:p>
            <a:r>
              <a:rPr lang="en-US" dirty="0"/>
              <a:t>Background</a:t>
            </a:r>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317478" y="1093304"/>
            <a:ext cx="5924296" cy="5036805"/>
          </a:xfrm>
        </p:spPr>
        <p:txBody>
          <a:bodyPr>
            <a:normAutofit/>
          </a:bodyPr>
          <a:lstStyle/>
          <a:p>
            <a:pPr marL="342900" indent="-342900">
              <a:buFont typeface="Arial" panose="020B0604020202020204" pitchFamily="34" charset="0"/>
              <a:buChar char="•"/>
            </a:pPr>
            <a:r>
              <a:rPr lang="en-US" dirty="0"/>
              <a:t>In today’s competitive job market, recruiters face the critical task of manually screening thousands of resumes for limited job openings. </a:t>
            </a:r>
          </a:p>
          <a:p>
            <a:pPr marL="342900" indent="-342900">
              <a:buFont typeface="Arial" panose="020B0604020202020204" pitchFamily="34" charset="0"/>
              <a:buChar char="•"/>
            </a:pPr>
            <a:r>
              <a:rPr lang="en-US" dirty="0"/>
              <a:t>This process is time-consuming, prone to bias, and often fails to identify the most suitable candidates. </a:t>
            </a:r>
          </a:p>
          <a:p>
            <a:pPr marL="342900" indent="-342900">
              <a:buFont typeface="Arial" panose="020B0604020202020204" pitchFamily="34" charset="0"/>
              <a:buChar char="•"/>
            </a:pPr>
            <a:r>
              <a:rPr lang="en-US" dirty="0"/>
              <a:t>This project proposes a dual-purpose platform that will support both employers and job seekers with an automated resume screening and job recommendation system that leverages Natural Language Processing (NLP) techniques to automate and enhance the recruitment process.</a:t>
            </a:r>
          </a:p>
          <a:p>
            <a:pPr marL="342900" indent="-342900">
              <a:buFont typeface="Arial" panose="020B0604020202020204" pitchFamily="34" charset="0"/>
              <a:buChar char="•"/>
            </a:pPr>
            <a:endParaRPr lang="en-US" dirty="0"/>
          </a:p>
        </p:txBody>
      </p:sp>
      <p:sp>
        <p:nvSpPr>
          <p:cNvPr id="6" name="Content Placeholder 5">
            <a:extLst>
              <a:ext uri="{FF2B5EF4-FFF2-40B4-BE49-F238E27FC236}">
                <a16:creationId xmlns:a16="http://schemas.microsoft.com/office/drawing/2014/main" id="{78F0FB46-5068-74F1-B92A-A7EF1E4475EA}"/>
              </a:ext>
            </a:extLst>
          </p:cNvPr>
          <p:cNvSpPr>
            <a:spLocks noGrp="1"/>
          </p:cNvSpPr>
          <p:nvPr>
            <p:ph sz="quarter" idx="14"/>
          </p:nvPr>
        </p:nvSpPr>
        <p:spPr>
          <a:xfrm>
            <a:off x="6400800" y="4154557"/>
            <a:ext cx="5379130" cy="1708245"/>
          </a:xfrm>
        </p:spPr>
        <p:txBody>
          <a:bodyPr>
            <a:normAutofit/>
          </a:bodyPr>
          <a:lstStyle/>
          <a:p>
            <a:pPr marL="342900" indent="-342900">
              <a:buFont typeface="Arial" panose="020B0604020202020204" pitchFamily="34" charset="0"/>
              <a:buChar char="•"/>
            </a:pPr>
            <a:r>
              <a:rPr lang="en-US" dirty="0"/>
              <a:t>Use of deep learning-based language models and similarity search methods to match resumes with job descriptions and vice versa. </a:t>
            </a:r>
          </a:p>
        </p:txBody>
      </p:sp>
      <p:pic>
        <p:nvPicPr>
          <p:cNvPr id="5" name="Picture 4" descr="A group of hands holding up papers&#10;&#10;AI-generated content may be incorrect.">
            <a:extLst>
              <a:ext uri="{FF2B5EF4-FFF2-40B4-BE49-F238E27FC236}">
                <a16:creationId xmlns:a16="http://schemas.microsoft.com/office/drawing/2014/main" id="{74E46EDC-6125-D36B-F928-8615B6910EDC}"/>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6400800" y="0"/>
            <a:ext cx="5767585" cy="3845056"/>
          </a:xfrm>
          <a:prstGeom prst="rect">
            <a:avLst/>
          </a:prstGeom>
        </p:spPr>
      </p:pic>
    </p:spTree>
    <p:extLst>
      <p:ext uri="{BB962C8B-B14F-4D97-AF65-F5344CB8AC3E}">
        <p14:creationId xmlns:p14="http://schemas.microsoft.com/office/powerpoint/2010/main" val="3088225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89572"/>
            <a:ext cx="6787747" cy="1593507"/>
          </a:xfrm>
        </p:spPr>
        <p:txBody>
          <a:bodyPr anchor="b">
            <a:normAutofit/>
          </a:bodyPr>
          <a:lstStyle/>
          <a:p>
            <a:r>
              <a:rPr lang="en-US" dirty="0"/>
              <a:t>Dataset Overview</a:t>
            </a:r>
          </a:p>
        </p:txBody>
      </p:sp>
      <p:sp>
        <p:nvSpPr>
          <p:cNvPr id="11" name="Content Placeholder 2">
            <a:extLst>
              <a:ext uri="{FF2B5EF4-FFF2-40B4-BE49-F238E27FC236}">
                <a16:creationId xmlns:a16="http://schemas.microsoft.com/office/drawing/2014/main" id="{7FC808CD-EBF2-587D-F869-C39B365AE4D5}"/>
              </a:ext>
            </a:extLst>
          </p:cNvPr>
          <p:cNvSpPr>
            <a:spLocks noGrp="1"/>
          </p:cNvSpPr>
          <p:nvPr>
            <p:ph sz="quarter" idx="13"/>
          </p:nvPr>
        </p:nvSpPr>
        <p:spPr>
          <a:xfrm>
            <a:off x="594359" y="2281918"/>
            <a:ext cx="11292841" cy="4098100"/>
          </a:xfrm>
        </p:spPr>
        <p:txBody>
          <a:bodyPr/>
          <a:lstStyle/>
          <a:p>
            <a:r>
              <a:rPr lang="en-US" b="0" dirty="0">
                <a:solidFill>
                  <a:schemeClr val="bg1"/>
                </a:solidFill>
              </a:rPr>
              <a:t>Sourced the resume dataset of 2,484 entries from Kaggle </a:t>
            </a:r>
            <a:r>
              <a:rPr lang="en-US" b="0" i="1" dirty="0">
                <a:solidFill>
                  <a:srgbClr val="C00000"/>
                </a:solidFill>
              </a:rPr>
              <a:t>https://www.kaggle.com/datasets/snehaanbhawal/resume-dataset </a:t>
            </a:r>
          </a:p>
          <a:p>
            <a:r>
              <a:rPr lang="en-US" b="0" dirty="0">
                <a:solidFill>
                  <a:schemeClr val="bg1"/>
                </a:solidFill>
              </a:rPr>
              <a:t>The resume data comprises of 24 categories of resume holders i.e. </a:t>
            </a:r>
            <a:r>
              <a:rPr lang="en-US" b="0" i="1" dirty="0">
                <a:solidFill>
                  <a:srgbClr val="C00000"/>
                </a:solidFill>
              </a:rPr>
              <a:t>HR, designer, IT, teacher, advocate, business-development, healthcare, fitness, agriculture, BPO, Sales, Consultant, Digital media, automobile, chef, finance, apparel, engineering, accountant, construction, public-relations, banking, arts and aviation.</a:t>
            </a:r>
            <a:endParaRPr lang="en-US" b="0" i="1" dirty="0">
              <a:solidFill>
                <a:schemeClr val="bg1"/>
              </a:solidFill>
            </a:endParaRPr>
          </a:p>
          <a:p>
            <a:endParaRPr lang="en-US" b="0" dirty="0">
              <a:solidFill>
                <a:schemeClr val="bg1"/>
              </a:solidFill>
            </a:endParaRPr>
          </a:p>
        </p:txBody>
      </p:sp>
      <p:pic>
        <p:nvPicPr>
          <p:cNvPr id="3" name="Picture 2">
            <a:extLst>
              <a:ext uri="{FF2B5EF4-FFF2-40B4-BE49-F238E27FC236}">
                <a16:creationId xmlns:a16="http://schemas.microsoft.com/office/drawing/2014/main" id="{A64E444B-CA0A-4E3E-82D3-7953C865C1D6}"/>
              </a:ext>
            </a:extLst>
          </p:cNvPr>
          <p:cNvPicPr>
            <a:picLocks noChangeAspect="1"/>
          </p:cNvPicPr>
          <p:nvPr/>
        </p:nvPicPr>
        <p:blipFill>
          <a:blip r:embed="rId3"/>
          <a:stretch>
            <a:fillRect/>
          </a:stretch>
        </p:blipFill>
        <p:spPr>
          <a:xfrm>
            <a:off x="783771" y="4758146"/>
            <a:ext cx="9884229" cy="1733090"/>
          </a:xfrm>
          <a:prstGeom prst="rect">
            <a:avLst/>
          </a:prstGeom>
        </p:spPr>
      </p:pic>
    </p:spTree>
    <p:extLst>
      <p:ext uri="{BB962C8B-B14F-4D97-AF65-F5344CB8AC3E}">
        <p14:creationId xmlns:p14="http://schemas.microsoft.com/office/powerpoint/2010/main" val="1850768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DB14AAA-1F04-769D-E7F0-4F68C8EB9283}"/>
              </a:ext>
            </a:extLst>
          </p:cNvPr>
          <p:cNvSpPr>
            <a:spLocks noGrp="1"/>
          </p:cNvSpPr>
          <p:nvPr>
            <p:ph sz="quarter" idx="14"/>
          </p:nvPr>
        </p:nvSpPr>
        <p:spPr>
          <a:xfrm>
            <a:off x="603885" y="584005"/>
            <a:ext cx="10993754" cy="4842760"/>
          </a:xfrm>
        </p:spPr>
        <p:txBody>
          <a:bodyPr>
            <a:normAutofit/>
          </a:bodyPr>
          <a:lstStyle/>
          <a:p>
            <a:pPr marL="342900" indent="-342900">
              <a:buFont typeface="Arial" panose="020B0604020202020204" pitchFamily="34" charset="0"/>
              <a:buChar char="•"/>
            </a:pPr>
            <a:r>
              <a:rPr lang="en-US" dirty="0"/>
              <a:t>The job listings dataset of 500 entries was sourced from </a:t>
            </a:r>
            <a:r>
              <a:rPr lang="en-US" dirty="0" err="1"/>
              <a:t>Adzuna</a:t>
            </a:r>
            <a:r>
              <a:rPr lang="en-US" dirty="0"/>
              <a:t> jobs API  with the focus being in the UK. </a:t>
            </a:r>
          </a:p>
          <a:p>
            <a:pPr marL="342900" indent="-342900">
              <a:buFont typeface="Arial" panose="020B0604020202020204" pitchFamily="34" charset="0"/>
              <a:buChar char="•"/>
            </a:pPr>
            <a:r>
              <a:rPr lang="en-US" dirty="0"/>
              <a:t>It contains 25 job categories as listed: </a:t>
            </a:r>
            <a:r>
              <a:rPr lang="en-US" i="1" dirty="0">
                <a:solidFill>
                  <a:srgbClr val="C00000"/>
                </a:solidFill>
              </a:rPr>
              <a:t>Accounting &amp; finance,  Admin,  Consultancy,  Creative &amp; Design ,  Customer Service,  domestic help and cleaning ,  Engineering, Graduate, Healthcare &amp; Nursing, Hospitality &amp; Catering, HR &amp; Recruitment, IT, Legal, Logistics &amp; Warehouse, Maintenance, Manufacturing, Part time,  other/general,  PR Advertising &amp;Marketing, Property, retail, Sales,  Social work, Teaching and Trade  &amp; Construction </a:t>
            </a:r>
          </a:p>
        </p:txBody>
      </p:sp>
      <p:pic>
        <p:nvPicPr>
          <p:cNvPr id="2" name="Picture 1">
            <a:extLst>
              <a:ext uri="{FF2B5EF4-FFF2-40B4-BE49-F238E27FC236}">
                <a16:creationId xmlns:a16="http://schemas.microsoft.com/office/drawing/2014/main" id="{748EAF84-65D2-FF37-6978-0ADA3BCB5662}"/>
              </a:ext>
            </a:extLst>
          </p:cNvPr>
          <p:cNvPicPr>
            <a:picLocks noChangeAspect="1"/>
          </p:cNvPicPr>
          <p:nvPr/>
        </p:nvPicPr>
        <p:blipFill>
          <a:blip r:embed="rId3"/>
          <a:stretch>
            <a:fillRect/>
          </a:stretch>
        </p:blipFill>
        <p:spPr>
          <a:xfrm>
            <a:off x="207209" y="3309257"/>
            <a:ext cx="11984791" cy="2117508"/>
          </a:xfrm>
          <a:prstGeom prst="rect">
            <a:avLst/>
          </a:prstGeom>
        </p:spPr>
      </p:pic>
    </p:spTree>
    <p:extLst>
      <p:ext uri="{BB962C8B-B14F-4D97-AF65-F5344CB8AC3E}">
        <p14:creationId xmlns:p14="http://schemas.microsoft.com/office/powerpoint/2010/main" val="4127695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C2C5CF2B-B024-330F-8A75-6D3D7424D49D}"/>
              </a:ext>
            </a:extLst>
          </p:cNvPr>
          <p:cNvPicPr>
            <a:picLocks noGrp="1" noChangeAspect="1"/>
          </p:cNvPicPr>
          <p:nvPr>
            <p:ph sz="quarter" idx="14"/>
          </p:nvPr>
        </p:nvPicPr>
        <p:blipFill>
          <a:blip r:embed="rId2"/>
          <a:srcRect t="2457" r="3" b="7964"/>
          <a:stretch>
            <a:fillRect/>
          </a:stretch>
        </p:blipFill>
        <p:spPr>
          <a:xfrm>
            <a:off x="885306" y="117865"/>
            <a:ext cx="9302115" cy="3127664"/>
          </a:xfrm>
          <a:noFill/>
        </p:spPr>
      </p:pic>
      <p:pic>
        <p:nvPicPr>
          <p:cNvPr id="16" name="Content Placeholder 15">
            <a:extLst>
              <a:ext uri="{FF2B5EF4-FFF2-40B4-BE49-F238E27FC236}">
                <a16:creationId xmlns:a16="http://schemas.microsoft.com/office/drawing/2014/main" id="{A1F0F5CB-F294-4100-3786-E3FD47F80802}"/>
              </a:ext>
            </a:extLst>
          </p:cNvPr>
          <p:cNvPicPr>
            <a:picLocks noGrp="1" noChangeAspect="1"/>
          </p:cNvPicPr>
          <p:nvPr>
            <p:ph sz="quarter" idx="15"/>
          </p:nvPr>
        </p:nvPicPr>
        <p:blipFill>
          <a:blip r:embed="rId3"/>
          <a:srcRect r="6828" b="3"/>
          <a:stretch>
            <a:fillRect/>
          </a:stretch>
        </p:blipFill>
        <p:spPr>
          <a:xfrm>
            <a:off x="885306" y="3235138"/>
            <a:ext cx="9311640" cy="3622862"/>
          </a:xfrm>
          <a:noFill/>
        </p:spPr>
      </p:pic>
    </p:spTree>
    <p:extLst>
      <p:ext uri="{BB962C8B-B14F-4D97-AF65-F5344CB8AC3E}">
        <p14:creationId xmlns:p14="http://schemas.microsoft.com/office/powerpoint/2010/main" val="2582001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network of dots and lines&#10;&#10;AI-generated content may be incorrect.">
            <a:extLst>
              <a:ext uri="{FF2B5EF4-FFF2-40B4-BE49-F238E27FC236}">
                <a16:creationId xmlns:a16="http://schemas.microsoft.com/office/drawing/2014/main" id="{CA4D759A-0ED4-38E7-CBF6-EA981E06B73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4852" b="4852"/>
          <a:stretch>
            <a:fillRect/>
          </a:stretch>
        </p:blipFill>
        <p:spPr>
          <a:xfrm>
            <a:off x="20" y="10"/>
            <a:ext cx="12191980" cy="6880533"/>
          </a:xfrm>
          <a:noFill/>
        </p:spPr>
      </p:pic>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6309359" y="444933"/>
            <a:ext cx="5477479" cy="3291840"/>
          </a:xfrm>
        </p:spPr>
        <p:txBody>
          <a:bodyPr anchor="b">
            <a:normAutofit/>
          </a:bodyPr>
          <a:lstStyle/>
          <a:p>
            <a:r>
              <a:rPr lang="en-US" dirty="0"/>
              <a:t>Model Architecture</a:t>
            </a:r>
          </a:p>
        </p:txBody>
      </p:sp>
    </p:spTree>
    <p:extLst>
      <p:ext uri="{BB962C8B-B14F-4D97-AF65-F5344CB8AC3E}">
        <p14:creationId xmlns:p14="http://schemas.microsoft.com/office/powerpoint/2010/main" val="298364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nchor="b">
            <a:normAutofit/>
          </a:bodyPr>
          <a:lstStyle/>
          <a:p>
            <a:r>
              <a:rPr lang="en-US" sz="4000" u="sng" dirty="0"/>
              <a:t>Sentence Bidirectional Encoder Representations from Transformers (SBERT)</a:t>
            </a:r>
          </a:p>
        </p:txBody>
      </p:sp>
      <p:sp>
        <p:nvSpPr>
          <p:cNvPr id="10" name="Content Placeholder 2">
            <a:extLst>
              <a:ext uri="{FF2B5EF4-FFF2-40B4-BE49-F238E27FC236}">
                <a16:creationId xmlns:a16="http://schemas.microsoft.com/office/drawing/2014/main" id="{CC6A8120-A5BF-052F-D4F1-B09FBBE983C5}"/>
              </a:ext>
            </a:extLst>
          </p:cNvPr>
          <p:cNvSpPr>
            <a:spLocks noGrp="1"/>
          </p:cNvSpPr>
          <p:nvPr>
            <p:ph sz="quarter" idx="15"/>
          </p:nvPr>
        </p:nvSpPr>
        <p:spPr>
          <a:xfrm>
            <a:off x="403163" y="2223655"/>
            <a:ext cx="5080379" cy="4356216"/>
          </a:xfrm>
        </p:spPr>
        <p:txBody>
          <a:bodyPr>
            <a:normAutofit/>
          </a:bodyPr>
          <a:lstStyle/>
          <a:p>
            <a:pPr marL="342900" indent="-342900">
              <a:buFont typeface="Arial" panose="020B0604020202020204" pitchFamily="34" charset="0"/>
              <a:buChar char="•"/>
            </a:pPr>
            <a:r>
              <a:rPr lang="en-US" dirty="0"/>
              <a:t>SBERT is based on the transformer model which is a neural network architecture for NLP tasks and uses an encoder and decoder.</a:t>
            </a:r>
          </a:p>
          <a:p>
            <a:pPr marL="342900" indent="-342900">
              <a:buFont typeface="Arial" panose="020B0604020202020204" pitchFamily="34" charset="0"/>
              <a:buChar char="•"/>
            </a:pPr>
            <a:r>
              <a:rPr lang="en-US" dirty="0"/>
              <a:t>It is built on BERT which employs an encoder only architecture suggesting a primary emphasis on understanding input sequences. </a:t>
            </a:r>
          </a:p>
          <a:p>
            <a:pPr marL="342900" indent="-342900">
              <a:buFont typeface="Arial" panose="020B0604020202020204" pitchFamily="34" charset="0"/>
              <a:buChar char="•"/>
            </a:pPr>
            <a:r>
              <a:rPr lang="en-US" dirty="0"/>
              <a:t>BERT: Generates context-aware embeddings at the word(token) level whereas, SBERT is fine-tuned for sentence-level embeddings.</a:t>
            </a:r>
          </a:p>
        </p:txBody>
      </p:sp>
      <p:sp>
        <p:nvSpPr>
          <p:cNvPr id="4" name="Content Placeholder 3">
            <a:extLst>
              <a:ext uri="{FF2B5EF4-FFF2-40B4-BE49-F238E27FC236}">
                <a16:creationId xmlns:a16="http://schemas.microsoft.com/office/drawing/2014/main" id="{22BDAD23-2381-BEC5-A24F-BE930DCE3D62}"/>
              </a:ext>
            </a:extLst>
          </p:cNvPr>
          <p:cNvSpPr>
            <a:spLocks noGrp="1"/>
          </p:cNvSpPr>
          <p:nvPr>
            <p:ph sz="quarter" idx="16"/>
          </p:nvPr>
        </p:nvSpPr>
        <p:spPr>
          <a:xfrm>
            <a:off x="5881898" y="1772725"/>
            <a:ext cx="5795095" cy="4807146"/>
          </a:xfrm>
        </p:spPr>
        <p:txBody>
          <a:bodyPr>
            <a:normAutofit/>
          </a:body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SBERT has a strong performance in semantic similarity as it gets to understand the context of a sentence by looking at how words relates to each other and not just in isolation as BERT does.</a:t>
            </a:r>
          </a:p>
          <a:p>
            <a:pPr marL="342900" indent="-342900">
              <a:buFont typeface="Arial" panose="020B0604020202020204" pitchFamily="34" charset="0"/>
              <a:buChar char="•"/>
            </a:pPr>
            <a:r>
              <a:rPr lang="en-US" dirty="0" err="1"/>
              <a:t>sBERT</a:t>
            </a:r>
            <a:r>
              <a:rPr lang="en-US" dirty="0"/>
              <a:t>: Optimized for sentence-level embeddings. Uses a Siamese architecture to compute similarity efficiently, enabling fast comparisons in retrieval systems like FAISS (Facebook AI Similarity Search).</a:t>
            </a:r>
          </a:p>
          <a:p>
            <a:pPr marL="342900" indent="-342900">
              <a:buFont typeface="Arial" panose="020B0604020202020204" pitchFamily="34" charset="0"/>
              <a:buChar char="•"/>
            </a:pPr>
            <a:r>
              <a:rPr lang="en-US" dirty="0"/>
              <a:t>The model was built on the all-miniLM-L6-V2 which is light and fast and has a max token length of 512 and output dimension of 384.</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752428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C1D91-1F9E-ADB4-8098-4CDA9A85EEF5}"/>
              </a:ext>
            </a:extLst>
          </p:cNvPr>
          <p:cNvSpPr>
            <a:spLocks noGrp="1"/>
          </p:cNvSpPr>
          <p:nvPr>
            <p:ph type="title"/>
          </p:nvPr>
        </p:nvSpPr>
        <p:spPr>
          <a:xfrm>
            <a:off x="594360" y="102875"/>
            <a:ext cx="10873740" cy="1680205"/>
          </a:xfrm>
        </p:spPr>
        <p:txBody>
          <a:bodyPr anchor="b">
            <a:normAutofit/>
          </a:bodyPr>
          <a:lstStyle/>
          <a:p>
            <a:r>
              <a:rPr lang="en-US" sz="4000" dirty="0" err="1"/>
              <a:t>VoyageAI</a:t>
            </a:r>
            <a:endParaRPr lang="en-US" sz="4000" dirty="0"/>
          </a:p>
        </p:txBody>
      </p:sp>
      <p:sp>
        <p:nvSpPr>
          <p:cNvPr id="8" name="Content Placeholder 2">
            <a:extLst>
              <a:ext uri="{FF2B5EF4-FFF2-40B4-BE49-F238E27FC236}">
                <a16:creationId xmlns:a16="http://schemas.microsoft.com/office/drawing/2014/main" id="{4E64DC8D-3CC7-0CDD-B4A0-2FE971193EC0}"/>
              </a:ext>
            </a:extLst>
          </p:cNvPr>
          <p:cNvSpPr>
            <a:spLocks noGrp="1"/>
          </p:cNvSpPr>
          <p:nvPr>
            <p:ph sz="quarter" idx="13"/>
          </p:nvPr>
        </p:nvSpPr>
        <p:spPr>
          <a:xfrm>
            <a:off x="594360" y="2282008"/>
            <a:ext cx="10873740" cy="4191528"/>
          </a:xfrm>
        </p:spPr>
        <p:txBody>
          <a:bodyPr/>
          <a:lstStyle/>
          <a:p>
            <a:r>
              <a:rPr lang="en-US" dirty="0"/>
              <a:t>Voyage embeddings are produced by Voyage AI models.</a:t>
            </a:r>
          </a:p>
          <a:p>
            <a:r>
              <a:rPr lang="en-US" dirty="0"/>
              <a:t>They are pre-trained transformer - based language models that produce sentence-level embeddings, just like SBERT.</a:t>
            </a:r>
          </a:p>
          <a:p>
            <a:r>
              <a:rPr lang="en-US" dirty="0"/>
              <a:t>Used Voyage-2 model for its high accuracy and speed. It has an output dimension of 1024 and max token length of 8192 making it excellent for long documents as is with the resume and job datasets used in the project. </a:t>
            </a:r>
          </a:p>
          <a:p>
            <a:r>
              <a:rPr lang="en-US" dirty="0"/>
              <a:t>Compare embeddings using cosine similarity.</a:t>
            </a:r>
          </a:p>
          <a:p>
            <a:endParaRPr lang="en-US" dirty="0"/>
          </a:p>
        </p:txBody>
      </p:sp>
    </p:spTree>
    <p:extLst>
      <p:ext uri="{BB962C8B-B14F-4D97-AF65-F5344CB8AC3E}">
        <p14:creationId xmlns:p14="http://schemas.microsoft.com/office/powerpoint/2010/main" val="323992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D4B1-567D-AFF2-3999-CBAC0985C1B1}"/>
              </a:ext>
            </a:extLst>
          </p:cNvPr>
          <p:cNvSpPr>
            <a:spLocks noGrp="1"/>
          </p:cNvSpPr>
          <p:nvPr>
            <p:ph type="title"/>
          </p:nvPr>
        </p:nvSpPr>
        <p:spPr/>
        <p:txBody>
          <a:bodyPr/>
          <a:lstStyle/>
          <a:p>
            <a:r>
              <a:rPr lang="en-US" dirty="0"/>
              <a:t>Facebook AI Similarity Search (FAISS)</a:t>
            </a:r>
          </a:p>
        </p:txBody>
      </p:sp>
      <p:sp>
        <p:nvSpPr>
          <p:cNvPr id="3" name="Content Placeholder 2">
            <a:extLst>
              <a:ext uri="{FF2B5EF4-FFF2-40B4-BE49-F238E27FC236}">
                <a16:creationId xmlns:a16="http://schemas.microsoft.com/office/drawing/2014/main" id="{1A623041-BE68-222F-C095-BDC633C173E8}"/>
              </a:ext>
            </a:extLst>
          </p:cNvPr>
          <p:cNvSpPr>
            <a:spLocks noGrp="1"/>
          </p:cNvSpPr>
          <p:nvPr>
            <p:ph sz="quarter" idx="13"/>
          </p:nvPr>
        </p:nvSpPr>
        <p:spPr>
          <a:xfrm>
            <a:off x="594360" y="2282008"/>
            <a:ext cx="10873740" cy="4253874"/>
          </a:xfrm>
        </p:spPr>
        <p:txBody>
          <a:bodyPr/>
          <a:lstStyle/>
          <a:p>
            <a:r>
              <a:rPr lang="en-US" dirty="0"/>
              <a:t>FAISS is a library used for similarity search and clustering of dense vectors.</a:t>
            </a:r>
          </a:p>
          <a:p>
            <a:r>
              <a:rPr lang="en-US" dirty="0"/>
              <a:t>It works by building an index of the documents to be searched/retrieved (the documents are represented as vectors) and makes nearest </a:t>
            </a:r>
            <a:r>
              <a:rPr lang="en-US" dirty="0" err="1"/>
              <a:t>neighbour</a:t>
            </a:r>
            <a:r>
              <a:rPr lang="en-US" dirty="0"/>
              <a:t> searches for the most similar vectors using the distance metrics cosine similarity, using an algorithm like K-means clustering. This helps organize and retrieve vectors fast and efficiently.</a:t>
            </a:r>
          </a:p>
          <a:p>
            <a:r>
              <a:rPr lang="en-US" dirty="0"/>
              <a:t>Pairing of Voyage/SBERT + FAISS enables fast and scalable similarity search across large collections of resume and job embeddings. </a:t>
            </a:r>
          </a:p>
          <a:p>
            <a:endParaRPr lang="en-US" dirty="0"/>
          </a:p>
        </p:txBody>
      </p:sp>
    </p:spTree>
    <p:extLst>
      <p:ext uri="{BB962C8B-B14F-4D97-AF65-F5344CB8AC3E}">
        <p14:creationId xmlns:p14="http://schemas.microsoft.com/office/powerpoint/2010/main" val="2948767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9801497" cy="1593507"/>
          </a:xfrm>
        </p:spPr>
        <p:txBody>
          <a:bodyPr/>
          <a:lstStyle/>
          <a:p>
            <a:r>
              <a:rPr lang="en-US" dirty="0"/>
              <a:t>Results – SBERT (Resume – jobs)</a:t>
            </a:r>
          </a:p>
        </p:txBody>
      </p:sp>
      <p:pic>
        <p:nvPicPr>
          <p:cNvPr id="6" name="Content Placeholder 5">
            <a:extLst>
              <a:ext uri="{FF2B5EF4-FFF2-40B4-BE49-F238E27FC236}">
                <a16:creationId xmlns:a16="http://schemas.microsoft.com/office/drawing/2014/main" id="{D2D3828D-49BE-7F0B-7AEE-B7DBFEEC944D}"/>
              </a:ext>
            </a:extLst>
          </p:cNvPr>
          <p:cNvPicPr>
            <a:picLocks noGrp="1" noChangeAspect="1"/>
          </p:cNvPicPr>
          <p:nvPr>
            <p:ph sz="quarter" idx="13"/>
          </p:nvPr>
        </p:nvPicPr>
        <p:blipFill>
          <a:blip r:embed="rId3"/>
          <a:stretch>
            <a:fillRect/>
          </a:stretch>
        </p:blipFill>
        <p:spPr>
          <a:xfrm>
            <a:off x="594360" y="2283554"/>
            <a:ext cx="11324371" cy="4240105"/>
          </a:xfrm>
        </p:spPr>
      </p:pic>
    </p:spTree>
    <p:extLst>
      <p:ext uri="{BB962C8B-B14F-4D97-AF65-F5344CB8AC3E}">
        <p14:creationId xmlns:p14="http://schemas.microsoft.com/office/powerpoint/2010/main" val="3346685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EB609-F2E7-53F6-E751-07D7F7BAD2AF}"/>
              </a:ext>
            </a:extLst>
          </p:cNvPr>
          <p:cNvSpPr>
            <a:spLocks noGrp="1"/>
          </p:cNvSpPr>
          <p:nvPr>
            <p:ph type="title"/>
          </p:nvPr>
        </p:nvSpPr>
        <p:spPr>
          <a:xfrm>
            <a:off x="594360" y="189572"/>
            <a:ext cx="11140440" cy="1593507"/>
          </a:xfrm>
        </p:spPr>
        <p:txBody>
          <a:bodyPr/>
          <a:lstStyle/>
          <a:p>
            <a:r>
              <a:rPr lang="en-US" dirty="0"/>
              <a:t>Results – Voyage Embeddings (resume-job)</a:t>
            </a:r>
          </a:p>
        </p:txBody>
      </p:sp>
      <p:pic>
        <p:nvPicPr>
          <p:cNvPr id="7" name="Content Placeholder 6">
            <a:extLst>
              <a:ext uri="{FF2B5EF4-FFF2-40B4-BE49-F238E27FC236}">
                <a16:creationId xmlns:a16="http://schemas.microsoft.com/office/drawing/2014/main" id="{27D56D81-5C08-0914-2F04-AB83AC3CDE3D}"/>
              </a:ext>
            </a:extLst>
          </p:cNvPr>
          <p:cNvPicPr>
            <a:picLocks noGrp="1" noChangeAspect="1"/>
          </p:cNvPicPr>
          <p:nvPr>
            <p:ph sz="quarter" idx="13"/>
          </p:nvPr>
        </p:nvPicPr>
        <p:blipFill>
          <a:blip r:embed="rId2"/>
          <a:stretch>
            <a:fillRect/>
          </a:stretch>
        </p:blipFill>
        <p:spPr>
          <a:xfrm>
            <a:off x="525780" y="2257219"/>
            <a:ext cx="11140439" cy="4304605"/>
          </a:xfrm>
        </p:spPr>
      </p:pic>
    </p:spTree>
    <p:extLst>
      <p:ext uri="{BB962C8B-B14F-4D97-AF65-F5344CB8AC3E}">
        <p14:creationId xmlns:p14="http://schemas.microsoft.com/office/powerpoint/2010/main" val="76572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DB0ED-2745-10BC-67D5-19EB4F72975E}"/>
              </a:ext>
            </a:extLst>
          </p:cNvPr>
          <p:cNvSpPr>
            <a:spLocks noGrp="1"/>
          </p:cNvSpPr>
          <p:nvPr>
            <p:ph type="title"/>
          </p:nvPr>
        </p:nvSpPr>
        <p:spPr>
          <a:xfrm>
            <a:off x="594360" y="189572"/>
            <a:ext cx="9638211" cy="1593507"/>
          </a:xfrm>
        </p:spPr>
        <p:txBody>
          <a:bodyPr/>
          <a:lstStyle/>
          <a:p>
            <a:r>
              <a:rPr lang="en-US" dirty="0"/>
              <a:t>Results – SBERT (Job – resume)</a:t>
            </a:r>
          </a:p>
        </p:txBody>
      </p:sp>
      <p:pic>
        <p:nvPicPr>
          <p:cNvPr id="6" name="Content Placeholder 5">
            <a:extLst>
              <a:ext uri="{FF2B5EF4-FFF2-40B4-BE49-F238E27FC236}">
                <a16:creationId xmlns:a16="http://schemas.microsoft.com/office/drawing/2014/main" id="{41357CB9-C8A4-BFFC-1904-A564C961D725}"/>
              </a:ext>
            </a:extLst>
          </p:cNvPr>
          <p:cNvPicPr>
            <a:picLocks noGrp="1" noChangeAspect="1"/>
          </p:cNvPicPr>
          <p:nvPr>
            <p:ph sz="quarter" idx="13"/>
          </p:nvPr>
        </p:nvPicPr>
        <p:blipFill>
          <a:blip r:embed="rId2"/>
          <a:stretch>
            <a:fillRect/>
          </a:stretch>
        </p:blipFill>
        <p:spPr>
          <a:xfrm>
            <a:off x="491304" y="2327835"/>
            <a:ext cx="11209392" cy="4340593"/>
          </a:xfrm>
        </p:spPr>
      </p:pic>
    </p:spTree>
    <p:extLst>
      <p:ext uri="{BB962C8B-B14F-4D97-AF65-F5344CB8AC3E}">
        <p14:creationId xmlns:p14="http://schemas.microsoft.com/office/powerpoint/2010/main" val="2691725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3FC4A-7AA3-B462-98D4-6494ADF30662}"/>
              </a:ext>
            </a:extLst>
          </p:cNvPr>
          <p:cNvSpPr>
            <a:spLocks noGrp="1"/>
          </p:cNvSpPr>
          <p:nvPr>
            <p:ph type="title"/>
          </p:nvPr>
        </p:nvSpPr>
        <p:spPr>
          <a:xfrm>
            <a:off x="594360" y="189572"/>
            <a:ext cx="10617926" cy="1593507"/>
          </a:xfrm>
        </p:spPr>
        <p:txBody>
          <a:bodyPr/>
          <a:lstStyle/>
          <a:p>
            <a:r>
              <a:rPr lang="en-US" dirty="0"/>
              <a:t>Results – Voyage Embedding (Job-resume)</a:t>
            </a:r>
          </a:p>
        </p:txBody>
      </p:sp>
      <p:pic>
        <p:nvPicPr>
          <p:cNvPr id="7" name="Content Placeholder 6">
            <a:extLst>
              <a:ext uri="{FF2B5EF4-FFF2-40B4-BE49-F238E27FC236}">
                <a16:creationId xmlns:a16="http://schemas.microsoft.com/office/drawing/2014/main" id="{31E52B54-0E1D-4322-AE07-409296CDCEDB}"/>
              </a:ext>
            </a:extLst>
          </p:cNvPr>
          <p:cNvPicPr>
            <a:picLocks noGrp="1" noChangeAspect="1"/>
          </p:cNvPicPr>
          <p:nvPr>
            <p:ph sz="quarter" idx="13"/>
          </p:nvPr>
        </p:nvPicPr>
        <p:blipFill>
          <a:blip r:embed="rId2"/>
          <a:stretch>
            <a:fillRect/>
          </a:stretch>
        </p:blipFill>
        <p:spPr>
          <a:xfrm>
            <a:off x="594360" y="2295918"/>
            <a:ext cx="11114799" cy="4477740"/>
          </a:xfrm>
        </p:spPr>
      </p:pic>
    </p:spTree>
    <p:extLst>
      <p:ext uri="{BB962C8B-B14F-4D97-AF65-F5344CB8AC3E}">
        <p14:creationId xmlns:p14="http://schemas.microsoft.com/office/powerpoint/2010/main" val="2321278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736315"/>
          </a:xfrm>
        </p:spPr>
        <p:txBody>
          <a:bodyPr/>
          <a:lstStyle/>
          <a:p>
            <a:r>
              <a:rPr lang="en-US" dirty="0"/>
              <a:t>Evaluation</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145473" y="2337955"/>
            <a:ext cx="11793682" cy="3906982"/>
          </a:xfrm>
        </p:spPr>
        <p:txBody>
          <a:bodyPr>
            <a:normAutofit/>
          </a:bodyPr>
          <a:lstStyle/>
          <a:p>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 name="TextBox 5">
            <a:extLst>
              <a:ext uri="{FF2B5EF4-FFF2-40B4-BE49-F238E27FC236}">
                <a16:creationId xmlns:a16="http://schemas.microsoft.com/office/drawing/2014/main" id="{13845C52-2B4B-8048-A2A7-18C57BA575CE}"/>
              </a:ext>
            </a:extLst>
          </p:cNvPr>
          <p:cNvSpPr txBox="1"/>
          <p:nvPr/>
        </p:nvSpPr>
        <p:spPr>
          <a:xfrm>
            <a:off x="325821" y="2459421"/>
            <a:ext cx="11516273" cy="4370427"/>
          </a:xfrm>
          <a:prstGeom prst="rect">
            <a:avLst/>
          </a:prstGeom>
          <a:noFill/>
        </p:spPr>
        <p:txBody>
          <a:bodyPr wrap="square">
            <a:spAutoFit/>
          </a:bodyPr>
          <a:lstStyle/>
          <a:p>
            <a:pPr marL="342900" indent="-342900">
              <a:buFont typeface="Arial" panose="020B0604020202020204" pitchFamily="34" charset="0"/>
              <a:buChar char="•"/>
            </a:pPr>
            <a:r>
              <a:rPr lang="en-US" sz="2000" b="0" dirty="0">
                <a:solidFill>
                  <a:schemeClr val="bg1"/>
                </a:solidFill>
                <a:effectLst/>
                <a:latin typeface="Franklin Gothic Book" panose="020B0503020102020204" pitchFamily="34" charset="0"/>
              </a:rPr>
              <a:t>Evaluated the SBERT and Voyage AI embeddings using the silhouette score and specified the metrics on cosine similarity. </a:t>
            </a:r>
          </a:p>
          <a:p>
            <a:pPr marL="342900" indent="-342900">
              <a:buFont typeface="Arial" panose="020B0604020202020204" pitchFamily="34" charset="0"/>
              <a:buChar char="•"/>
            </a:pPr>
            <a:r>
              <a:rPr lang="en-US" sz="2000" dirty="0">
                <a:solidFill>
                  <a:schemeClr val="bg1"/>
                </a:solidFill>
                <a:latin typeface="Franklin Gothic Book" panose="020B0503020102020204" pitchFamily="34" charset="0"/>
              </a:rPr>
              <a:t>Silhouette score is a metric used to evaluate the quality of clustering in unsupervised ML as is in this case. It measures how well a data point fits within its assigned cluster compared to other clusters. </a:t>
            </a:r>
          </a:p>
          <a:p>
            <a:pPr marL="342900" indent="-342900">
              <a:buFont typeface="Arial" panose="020B0604020202020204" pitchFamily="34" charset="0"/>
              <a:buChar char="•"/>
            </a:pPr>
            <a:r>
              <a:rPr lang="en-US" sz="2000" dirty="0">
                <a:solidFill>
                  <a:schemeClr val="bg1"/>
                </a:solidFill>
                <a:latin typeface="Franklin Gothic Book" panose="020B0503020102020204" pitchFamily="34" charset="0"/>
              </a:rPr>
              <a:t>Values range from -1 to 1. A high score of close to 1 or 1 indicates data points are well clustered whereas a score near 0 suggests overlapping clusters and negative scores indicate potential misclassification.</a:t>
            </a:r>
            <a:endParaRPr lang="en-US" sz="2000" b="0" dirty="0">
              <a:solidFill>
                <a:schemeClr val="bg1"/>
              </a:solidFill>
              <a:effectLst/>
              <a:latin typeface="Franklin Gothic Book" panose="020B0503020102020204" pitchFamily="34" charset="0"/>
            </a:endParaRPr>
          </a:p>
          <a:p>
            <a:pPr marL="342900" indent="-342900">
              <a:buFont typeface="Arial" panose="020B0604020202020204" pitchFamily="34" charset="0"/>
              <a:buChar char="•"/>
            </a:pPr>
            <a:r>
              <a:rPr lang="en-US" sz="2000" b="0" dirty="0">
                <a:solidFill>
                  <a:schemeClr val="bg1"/>
                </a:solidFill>
                <a:effectLst/>
                <a:latin typeface="Franklin Gothic Book" panose="020B0503020102020204" pitchFamily="34" charset="0"/>
              </a:rPr>
              <a:t>Silhouette Scores:</a:t>
            </a:r>
          </a:p>
          <a:p>
            <a:pPr>
              <a:buNone/>
            </a:pPr>
            <a:r>
              <a:rPr lang="en-US" sz="2000" b="0" dirty="0">
                <a:solidFill>
                  <a:schemeClr val="bg1"/>
                </a:solidFill>
                <a:effectLst/>
                <a:latin typeface="Franklin Gothic Book" panose="020B0503020102020204" pitchFamily="34" charset="0"/>
              </a:rPr>
              <a:t>   	 </a:t>
            </a:r>
            <a:r>
              <a:rPr lang="en-US" sz="2000" b="1" dirty="0">
                <a:solidFill>
                  <a:schemeClr val="bg1"/>
                </a:solidFill>
                <a:effectLst/>
                <a:latin typeface="Franklin Gothic Book" panose="020B0503020102020204" pitchFamily="34" charset="0"/>
              </a:rPr>
              <a:t>SBERT Resumes: 0.1184	</a:t>
            </a:r>
            <a:r>
              <a:rPr lang="en-US" sz="2000" dirty="0">
                <a:solidFill>
                  <a:schemeClr val="bg1"/>
                </a:solidFill>
                <a:latin typeface="Franklin Gothic Book" panose="020B0503020102020204" pitchFamily="34" charset="0"/>
              </a:rPr>
              <a:t> </a:t>
            </a:r>
            <a:r>
              <a:rPr lang="en-US" sz="2000" dirty="0" err="1">
                <a:solidFill>
                  <a:schemeClr val="bg1"/>
                </a:solidFill>
                <a:latin typeface="Franklin Gothic Book" panose="020B0503020102020204" pitchFamily="34" charset="0"/>
              </a:rPr>
              <a:t>VoyageAI</a:t>
            </a:r>
            <a:r>
              <a:rPr lang="en-US" sz="2000" dirty="0">
                <a:solidFill>
                  <a:schemeClr val="bg1"/>
                </a:solidFill>
                <a:latin typeface="Franklin Gothic Book" panose="020B0503020102020204" pitchFamily="34" charset="0"/>
              </a:rPr>
              <a:t> Resumes: 0.1070 </a:t>
            </a:r>
            <a:r>
              <a:rPr lang="en-US" sz="2000" b="1" dirty="0">
                <a:solidFill>
                  <a:schemeClr val="bg1"/>
                </a:solidFill>
                <a:effectLst/>
                <a:latin typeface="Franklin Gothic Book" panose="020B0503020102020204" pitchFamily="34" charset="0"/>
              </a:rPr>
              <a:t>	</a:t>
            </a:r>
            <a:endParaRPr lang="en-US" sz="2000" b="0" dirty="0">
              <a:solidFill>
                <a:schemeClr val="bg1"/>
              </a:solidFill>
              <a:effectLst/>
              <a:latin typeface="Franklin Gothic Book" panose="020B0503020102020204" pitchFamily="34" charset="0"/>
            </a:endParaRPr>
          </a:p>
          <a:p>
            <a:r>
              <a:rPr lang="en-US" sz="2000" b="0" dirty="0">
                <a:solidFill>
                  <a:schemeClr val="bg1"/>
                </a:solidFill>
                <a:effectLst/>
                <a:latin typeface="Franklin Gothic Book" panose="020B0503020102020204" pitchFamily="34" charset="0"/>
              </a:rPr>
              <a:t>    	SBERT Jobs: 0.0898		 </a:t>
            </a:r>
            <a:r>
              <a:rPr lang="en-US" sz="2000" b="1" dirty="0" err="1">
                <a:solidFill>
                  <a:schemeClr val="bg1"/>
                </a:solidFill>
                <a:latin typeface="Franklin Gothic Book" panose="020B0503020102020204" pitchFamily="34" charset="0"/>
              </a:rPr>
              <a:t>VoyageAI</a:t>
            </a:r>
            <a:r>
              <a:rPr lang="en-US" sz="2000" b="1" dirty="0">
                <a:solidFill>
                  <a:schemeClr val="bg1"/>
                </a:solidFill>
                <a:latin typeface="Franklin Gothic Book" panose="020B0503020102020204" pitchFamily="34" charset="0"/>
              </a:rPr>
              <a:t> Jobs: 0.1024</a:t>
            </a:r>
            <a:endParaRPr lang="en-US" sz="2000" dirty="0">
              <a:solidFill>
                <a:schemeClr val="bg1"/>
              </a:solidFill>
              <a:latin typeface="Franklin Gothic Book" panose="020B0503020102020204" pitchFamily="34" charset="0"/>
            </a:endParaRPr>
          </a:p>
          <a:p>
            <a:pPr marL="285750" indent="-285750">
              <a:buFont typeface="Arial" panose="020B0604020202020204" pitchFamily="34" charset="0"/>
              <a:buChar char="•"/>
            </a:pPr>
            <a:r>
              <a:rPr lang="en-US" sz="2000" dirty="0">
                <a:solidFill>
                  <a:schemeClr val="bg1"/>
                </a:solidFill>
                <a:latin typeface="Franklin Gothic Book" panose="020B0503020102020204" pitchFamily="34" charset="0"/>
              </a:rPr>
              <a:t>The scores are relatively low but Voyage AI appears to be performing slightly better than SBERT. Voyage AI might be having the upper hand due to its ability to handle long text inputs as well the high dimension.</a:t>
            </a: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200312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CE60-587E-1D5C-8B50-ED3441BA49CE}"/>
              </a:ext>
            </a:extLst>
          </p:cNvPr>
          <p:cNvSpPr>
            <a:spLocks noGrp="1"/>
          </p:cNvSpPr>
          <p:nvPr>
            <p:ph type="title"/>
          </p:nvPr>
        </p:nvSpPr>
        <p:spPr/>
        <p:txBody>
          <a:bodyPr/>
          <a:lstStyle/>
          <a:p>
            <a:r>
              <a:rPr lang="en-US" dirty="0"/>
              <a:t>Further Enhancements</a:t>
            </a:r>
          </a:p>
        </p:txBody>
      </p:sp>
      <p:sp>
        <p:nvSpPr>
          <p:cNvPr id="3" name="Text Placeholder 2">
            <a:extLst>
              <a:ext uri="{FF2B5EF4-FFF2-40B4-BE49-F238E27FC236}">
                <a16:creationId xmlns:a16="http://schemas.microsoft.com/office/drawing/2014/main" id="{0E02AE9C-BA1D-195E-3B93-A5A0CC03D8F3}"/>
              </a:ext>
            </a:extLst>
          </p:cNvPr>
          <p:cNvSpPr>
            <a:spLocks noGrp="1"/>
          </p:cNvSpPr>
          <p:nvPr>
            <p:ph sz="quarter" idx="13"/>
          </p:nvPr>
        </p:nvSpPr>
        <p:spPr>
          <a:xfrm>
            <a:off x="594358" y="2281918"/>
            <a:ext cx="10648605" cy="4212400"/>
          </a:xfrm>
        </p:spPr>
        <p:txBody>
          <a:bodyPr/>
          <a:lstStyle/>
          <a:p>
            <a:r>
              <a:rPr lang="en-US" b="0" dirty="0">
                <a:solidFill>
                  <a:schemeClr val="bg1"/>
                </a:solidFill>
              </a:rPr>
              <a:t>Create a functionality for seeking certain specific criteria or special conditions for a job requirement.</a:t>
            </a:r>
          </a:p>
          <a:p>
            <a:r>
              <a:rPr lang="en-US" b="0" dirty="0">
                <a:solidFill>
                  <a:schemeClr val="bg1"/>
                </a:solidFill>
              </a:rPr>
              <a:t>Have a recommendation system for job seekers on what to do to increase their qualification or match up to a certain job.</a:t>
            </a:r>
          </a:p>
        </p:txBody>
      </p:sp>
    </p:spTree>
    <p:extLst>
      <p:ext uri="{BB962C8B-B14F-4D97-AF65-F5344CB8AC3E}">
        <p14:creationId xmlns:p14="http://schemas.microsoft.com/office/powerpoint/2010/main" val="1440871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{FB61F5BA-E50B-465E-9C83-8DD8F3C91E83}TFd3b75063-ff25-434d-b12c-efeaf07d16c36e4d1800_win32-422f0a1741ec</Template>
  <TotalTime>12322</TotalTime>
  <Words>902</Words>
  <Application>Microsoft Office PowerPoint</Application>
  <PresentationFormat>Widescreen</PresentationFormat>
  <Paragraphs>63</Paragraphs>
  <Slides>17</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Consolas</vt:lpstr>
      <vt:lpstr>Franklin Gothic Book</vt:lpstr>
      <vt:lpstr>Franklin Gothic Demi</vt:lpstr>
      <vt:lpstr>Custom</vt:lpstr>
      <vt:lpstr>Resume screening and job recommendation system</vt:lpstr>
      <vt:lpstr>Outline</vt:lpstr>
      <vt:lpstr>Background</vt:lpstr>
      <vt:lpstr>Dataset Overview</vt:lpstr>
      <vt:lpstr>PowerPoint Presentation</vt:lpstr>
      <vt:lpstr>PowerPoint Presentation</vt:lpstr>
      <vt:lpstr>Model Architecture</vt:lpstr>
      <vt:lpstr>Sentence Bidirectional Encoder Representations from Transformers (SBERT)</vt:lpstr>
      <vt:lpstr>VoyageAI</vt:lpstr>
      <vt:lpstr>Facebook AI Similarity Search (FAISS)</vt:lpstr>
      <vt:lpstr>Results – SBERT (Resume – jobs)</vt:lpstr>
      <vt:lpstr>Results – Voyage Embeddings (resume-job)</vt:lpstr>
      <vt:lpstr>Results – SBERT (Job – resume)</vt:lpstr>
      <vt:lpstr>Results – Voyage Embedding (Job-resume)</vt:lpstr>
      <vt:lpstr>Evaluation</vt:lpstr>
      <vt:lpstr>Further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Waweru</dc:creator>
  <cp:lastModifiedBy>John Waweru</cp:lastModifiedBy>
  <cp:revision>32</cp:revision>
  <dcterms:created xsi:type="dcterms:W3CDTF">2025-06-09T13:57:36Z</dcterms:created>
  <dcterms:modified xsi:type="dcterms:W3CDTF">2025-09-02T10:49:10Z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